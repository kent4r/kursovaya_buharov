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Crimson Pro Semi Bold" panose="02000000000000000000" charset="-12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Heebo" pitchFamily="2" charset="-79"/>
      <p:regular r:id="rId22"/>
      <p:bold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099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164199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Оптимизация Алгоритмов Машинного Обучения с Использованием Конвейеров (Pipeline)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33947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Курсовая работа по дисциплине "Технологии машинного обучения и анализа данных".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25540" y="590312"/>
            <a:ext cx="7665720" cy="105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Введение: Актуальность ML-конвейеров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225540" y="1962626"/>
            <a:ext cx="7665720" cy="1351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Стремительное развитие цифровых технологий сделало машинное обучение ключевым инструментом. Рост объемов данных и сложности моделей требует устойчивых, воспроизводимых и масштабируемых процессов.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25540" y="3551753"/>
            <a:ext cx="7665720" cy="1938218"/>
          </a:xfrm>
          <a:prstGeom prst="roundRect">
            <a:avLst>
              <a:gd name="adj" fmla="val 566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02680" y="3551753"/>
            <a:ext cx="91440" cy="1938218"/>
          </a:xfrm>
          <a:prstGeom prst="roundRect">
            <a:avLst>
              <a:gd name="adj" fmla="val 34643"/>
            </a:avLst>
          </a:prstGeom>
          <a:solidFill>
            <a:srgbClr val="2150FE"/>
          </a:solidFill>
          <a:ln/>
        </p:spPr>
      </p:sp>
      <p:sp>
        <p:nvSpPr>
          <p:cNvPr id="7" name="Text 4"/>
          <p:cNvSpPr/>
          <p:nvPr/>
        </p:nvSpPr>
        <p:spPr>
          <a:xfrm>
            <a:off x="6528078" y="3785711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Проблема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6528078" y="4242316"/>
            <a:ext cx="7129224" cy="101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Традиционный подход с отдельными скриптами приводит к ошибкам, снижает точность и затрудняет воспроизведение экспериментов.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225540" y="5701070"/>
            <a:ext cx="7665720" cy="1938218"/>
          </a:xfrm>
          <a:prstGeom prst="roundRect">
            <a:avLst>
              <a:gd name="adj" fmla="val 566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02680" y="5701070"/>
            <a:ext cx="91440" cy="1938218"/>
          </a:xfrm>
          <a:prstGeom prst="roundRect">
            <a:avLst>
              <a:gd name="adj" fmla="val 34643"/>
            </a:avLst>
          </a:prstGeom>
          <a:solidFill>
            <a:srgbClr val="2150FE"/>
          </a:solidFill>
          <a:ln/>
        </p:spPr>
      </p:sp>
      <p:sp>
        <p:nvSpPr>
          <p:cNvPr id="11" name="Text 8"/>
          <p:cNvSpPr/>
          <p:nvPr/>
        </p:nvSpPr>
        <p:spPr>
          <a:xfrm>
            <a:off x="6528078" y="5935028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Актуальность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528078" y="6391632"/>
            <a:ext cx="7129224" cy="101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Конвейеры (ML-pipeline) упорядочивают операции, обеспечивая контроль над жизненным циклом модели и повышая эффективность.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108" y="528876"/>
            <a:ext cx="4136231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Цель и Задачи Работы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72108" y="1392912"/>
            <a:ext cx="13286184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Цель: рассмотреть архитектуру ML-конвейеров, проанализировать их компоненты и экспериментально исследовать методы оптимизации для улучшения работы моделей.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72108" y="2223254"/>
            <a:ext cx="432078" cy="43207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744081" y="2259211"/>
            <a:ext cx="288012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96114" y="2289215"/>
            <a:ext cx="244780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Изучить архитектуру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296114" y="2704386"/>
            <a:ext cx="12662178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Роль конвейеров в создании устойчивых и воспроизводимых моделей.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2108" y="3395543"/>
            <a:ext cx="432078" cy="43207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744081" y="3431500"/>
            <a:ext cx="288012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96114" y="3461504"/>
            <a:ext cx="39172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Рассмотреть ключевые элементы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296114" y="3876675"/>
            <a:ext cx="12662178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Трансформеры, оцениватели и механизмы обработки данных.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2108" y="4567833"/>
            <a:ext cx="432078" cy="43207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44081" y="4603790"/>
            <a:ext cx="288012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96114" y="4633793"/>
            <a:ext cx="483453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Проанализировать методы оптимизации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296114" y="5048964"/>
            <a:ext cx="12662178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Их преимущества и ограничения.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2108" y="5740122"/>
            <a:ext cx="432078" cy="43207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744081" y="5776079"/>
            <a:ext cx="288012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96114" y="5806083"/>
            <a:ext cx="240041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Реализовать подход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296114" y="6221254"/>
            <a:ext cx="12662178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Провести сравнительный эксперимент по оптимизации Pipeline.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72108" y="6912412"/>
            <a:ext cx="432078" cy="43207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744081" y="6948368"/>
            <a:ext cx="288012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96114" y="6978372"/>
            <a:ext cx="240041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Оценить важность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1296114" y="7393543"/>
            <a:ext cx="12662178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Влияние методов на качество модели и вычислительные затраты.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615" y="606028"/>
            <a:ext cx="12250817" cy="521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1.1. Понятие и Архитектура Конвейера Машинного Обучения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29615" y="1544122"/>
            <a:ext cx="13171170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ML-конвейер — это последовательная структура взаимосвязанных этапов обработки данных, объединённых в единый рабочий процесс.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091452" y="2961084"/>
            <a:ext cx="260615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Предобработка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729615" y="3411855"/>
            <a:ext cx="3967996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Устранение пропусков, выбросов, дубликатов, нормализация.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932789" y="2961084"/>
            <a:ext cx="260615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Преобразование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9932789" y="3411855"/>
            <a:ext cx="3967996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Создание новых признаков, кодирование, снижение размерности.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9932789" y="5422344"/>
            <a:ext cx="260615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Обучение</a:t>
            </a:r>
            <a:endParaRPr lang="en-US" sz="2050" dirty="0"/>
          </a:p>
        </p:txBody>
      </p:sp>
      <p:sp>
        <p:nvSpPr>
          <p:cNvPr id="13" name="Text 7"/>
          <p:cNvSpPr/>
          <p:nvPr/>
        </p:nvSpPr>
        <p:spPr>
          <a:xfrm>
            <a:off x="9932789" y="5873115"/>
            <a:ext cx="3967996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Применение выбранного алгоритма ML.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2091452" y="5589032"/>
            <a:ext cx="260615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Оценка</a:t>
            </a:r>
            <a:endParaRPr lang="en-US" sz="2050" dirty="0"/>
          </a:p>
        </p:txBody>
      </p:sp>
      <p:sp>
        <p:nvSpPr>
          <p:cNvPr id="17" name="Text 9"/>
          <p:cNvSpPr/>
          <p:nvPr/>
        </p:nvSpPr>
        <p:spPr>
          <a:xfrm>
            <a:off x="729615" y="6039803"/>
            <a:ext cx="3967996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Измерение качества модели.</a:t>
            </a:r>
            <a:endParaRPr lang="en-US" sz="1600" dirty="0"/>
          </a:p>
        </p:txBody>
      </p:sp>
      <p:sp>
        <p:nvSpPr>
          <p:cNvPr id="20" name="Text 10"/>
          <p:cNvSpPr/>
          <p:nvPr/>
        </p:nvSpPr>
        <p:spPr>
          <a:xfrm>
            <a:off x="729615" y="7290078"/>
            <a:ext cx="13171170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Конвейер обеспечивает системность, прозрачность и воспроизводимость всех операций, минимизируя человеческий фактор.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36" y="2765147"/>
            <a:ext cx="5109329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1.2. Ключевые Компоненты Конвейера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78936" y="3382963"/>
            <a:ext cx="13669327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Функциональность конвейера обеспечивается трансформерами (преобразование признаков) и оценивателями (построение модели и предсказание).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8936" y="3894217"/>
            <a:ext cx="1716405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Трансформеры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78936" y="4246047"/>
            <a:ext cx="6667143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Выполняют операции над данными, меняя их представление (очистка, нормализация, кодирование, Feature Engineering). Ключевой принцип — детерминированность и воспроизводимость.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88741" y="3894217"/>
            <a:ext cx="1716405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Оцениватели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88741" y="4246047"/>
            <a:ext cx="6667143" cy="43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Отвечают за статистическое моделирование (fit/predict). Интегрированы в конвейер и получают на вход уже преобразованные признаки, обеспечивая согласованность.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241" y="2727127"/>
            <a:ext cx="7760256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1.3. Преимущества Использования Конвейеров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594241" y="3406259"/>
            <a:ext cx="13441918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Применение конвейеров решает ряд системных проблем, обеспечивая устойчивый и предсказуемый цикл построения модели.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241" y="3868817"/>
            <a:ext cx="6636068" cy="1928932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764024" y="4038600"/>
            <a:ext cx="509349" cy="509349"/>
          </a:xfrm>
          <a:prstGeom prst="roundRect">
            <a:avLst>
              <a:gd name="adj" fmla="val 17950532"/>
            </a:avLst>
          </a:prstGeom>
          <a:solidFill>
            <a:srgbClr val="2150FE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042" y="4178617"/>
            <a:ext cx="229195" cy="2291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4024" y="4717733"/>
            <a:ext cx="2783800" cy="26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Устранение утечки данных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64024" y="5084802"/>
            <a:ext cx="6296501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Параметры преобразований вычисляются только на обучающей выборке.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400092" y="3868817"/>
            <a:ext cx="6636068" cy="1928932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1" name="Shape 7"/>
          <p:cNvSpPr/>
          <p:nvPr/>
        </p:nvSpPr>
        <p:spPr>
          <a:xfrm>
            <a:off x="7569875" y="4038600"/>
            <a:ext cx="509349" cy="509349"/>
          </a:xfrm>
          <a:prstGeom prst="roundRect">
            <a:avLst>
              <a:gd name="adj" fmla="val 17950532"/>
            </a:avLst>
          </a:prstGeom>
          <a:solidFill>
            <a:srgbClr val="2150FE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9892" y="4178617"/>
            <a:ext cx="229195" cy="2291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69875" y="4717733"/>
            <a:ext cx="3757017" cy="26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Стабильность и воспроизводимость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7569875" y="5084802"/>
            <a:ext cx="6296501" cy="543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Фиксированная структура операций и параметров для многократных запусков.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94241" y="5967532"/>
            <a:ext cx="6636068" cy="1657350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16" name="Shape 11"/>
          <p:cNvSpPr/>
          <p:nvPr/>
        </p:nvSpPr>
        <p:spPr>
          <a:xfrm>
            <a:off x="764024" y="6137315"/>
            <a:ext cx="509349" cy="509349"/>
          </a:xfrm>
          <a:prstGeom prst="roundRect">
            <a:avLst>
              <a:gd name="adj" fmla="val 17950532"/>
            </a:avLst>
          </a:prstGeom>
          <a:solidFill>
            <a:srgbClr val="2150FE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042" y="6277332"/>
            <a:ext cx="229195" cy="22919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4024" y="6816447"/>
            <a:ext cx="2405896" cy="26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Автоматизация рутины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764024" y="7183517"/>
            <a:ext cx="6296501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Объединение этапов подготовки данных в единую логическую единицу.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400092" y="5967532"/>
            <a:ext cx="6636068" cy="1657350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21" name="Shape 15"/>
          <p:cNvSpPr/>
          <p:nvPr/>
        </p:nvSpPr>
        <p:spPr>
          <a:xfrm>
            <a:off x="7569875" y="6137315"/>
            <a:ext cx="509349" cy="509349"/>
          </a:xfrm>
          <a:prstGeom prst="roundRect">
            <a:avLst>
              <a:gd name="adj" fmla="val 17950532"/>
            </a:avLst>
          </a:prstGeom>
          <a:solidFill>
            <a:srgbClr val="2150FE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9892" y="6277332"/>
            <a:ext cx="229195" cy="22919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69875" y="6816447"/>
            <a:ext cx="2686764" cy="26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Интеграция оптимизации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7569875" y="7183517"/>
            <a:ext cx="6296501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Подбор параметров для всех элементов конвейера одновременно.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9491" y="542449"/>
            <a:ext cx="7765018" cy="984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1.4. Эволюция Подходов: От Скриптов к MLOps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89491" y="1822728"/>
            <a:ext cx="7765018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Развитие ML-разработки от разрозненных скриптов к комплексным MLOps-конвейерам.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911066" y="2674858"/>
            <a:ext cx="22860" cy="3844885"/>
          </a:xfrm>
          <a:prstGeom prst="roundRect">
            <a:avLst>
              <a:gd name="adj" fmla="val 129268"/>
            </a:avLst>
          </a:prstGeom>
          <a:solidFill>
            <a:srgbClr val="D8D4D4"/>
          </a:solidFill>
          <a:ln/>
        </p:spPr>
      </p:sp>
      <p:sp>
        <p:nvSpPr>
          <p:cNvPr id="6" name="Shape 3"/>
          <p:cNvSpPr/>
          <p:nvPr/>
        </p:nvSpPr>
        <p:spPr>
          <a:xfrm>
            <a:off x="1109782" y="2885003"/>
            <a:ext cx="590907" cy="22860"/>
          </a:xfrm>
          <a:prstGeom prst="roundRect">
            <a:avLst>
              <a:gd name="adj" fmla="val 129268"/>
            </a:avLst>
          </a:prstGeom>
          <a:solidFill>
            <a:srgbClr val="D8D4D4"/>
          </a:solidFill>
          <a:ln/>
        </p:spPr>
      </p:sp>
      <p:sp>
        <p:nvSpPr>
          <p:cNvPr id="7" name="Shape 4"/>
          <p:cNvSpPr/>
          <p:nvPr/>
        </p:nvSpPr>
        <p:spPr>
          <a:xfrm>
            <a:off x="689491" y="2674858"/>
            <a:ext cx="443151" cy="44315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763369" y="2711768"/>
            <a:ext cx="295394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896070" y="2742486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Отдельные скрипты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896070" y="3168372"/>
            <a:ext cx="6558439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Небольшие исследовательские проекты, ручное выполнение.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1109782" y="4087773"/>
            <a:ext cx="590907" cy="22860"/>
          </a:xfrm>
          <a:prstGeom prst="roundRect">
            <a:avLst>
              <a:gd name="adj" fmla="val 129268"/>
            </a:avLst>
          </a:prstGeom>
          <a:solidFill>
            <a:srgbClr val="D8D4D4"/>
          </a:solidFill>
          <a:ln/>
        </p:spPr>
      </p:sp>
      <p:sp>
        <p:nvSpPr>
          <p:cNvPr id="12" name="Shape 9"/>
          <p:cNvSpPr/>
          <p:nvPr/>
        </p:nvSpPr>
        <p:spPr>
          <a:xfrm>
            <a:off x="689491" y="3877628"/>
            <a:ext cx="443151" cy="44315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763369" y="3914537"/>
            <a:ext cx="295394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1896070" y="3945255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ML-конвейеры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896070" y="4371142"/>
            <a:ext cx="6558439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Объединение операций в цепочку, упорядоченность, прозрачность.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1109782" y="5605820"/>
            <a:ext cx="590907" cy="22860"/>
          </a:xfrm>
          <a:prstGeom prst="roundRect">
            <a:avLst>
              <a:gd name="adj" fmla="val 129268"/>
            </a:avLst>
          </a:prstGeom>
          <a:solidFill>
            <a:srgbClr val="D8D4D4"/>
          </a:solidFill>
          <a:ln/>
        </p:spPr>
      </p:sp>
      <p:sp>
        <p:nvSpPr>
          <p:cNvPr id="17" name="Shape 14"/>
          <p:cNvSpPr/>
          <p:nvPr/>
        </p:nvSpPr>
        <p:spPr>
          <a:xfrm>
            <a:off x="689491" y="5395674"/>
            <a:ext cx="443151" cy="44315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763369" y="5432584"/>
            <a:ext cx="295394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1896070" y="5463302"/>
            <a:ext cx="2462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MLOps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896070" y="5889188"/>
            <a:ext cx="6558439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Системное объединение ML с DevOps: CI/CD, мониторинг, развертывание.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89491" y="6741319"/>
            <a:ext cx="7765018" cy="945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MLOps-конвейеры используют платформы как Kubeflow и MLflow для управления экспериментами, моделями и артефактами в распределённых системах.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2469" y="3060621"/>
            <a:ext cx="7084219" cy="501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2.1. Анализ Данных и Выбор Подхода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702469" y="3863221"/>
            <a:ext cx="13225463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Практическое исследование началось с анализа данных о выживаемости пассажиров Titanic.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02469" y="4410075"/>
            <a:ext cx="4274701" cy="3269099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5949" y="4633555"/>
            <a:ext cx="250876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Проблемы данных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25949" y="5067419"/>
            <a:ext cx="3827740" cy="963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Выбросы, пропущенные значения, разные масштабы, текстовые категориальные переменные.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177790" y="4410075"/>
            <a:ext cx="4274701" cy="3269099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01270" y="4633555"/>
            <a:ext cx="250876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Поэтапный подход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401270" y="5067419"/>
            <a:ext cx="3827740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Удаление выбросов (5-й и 95-й перцентили).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401270" y="5779889"/>
            <a:ext cx="3827740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Заполнение пропусков (медиана/мода).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01270" y="6492359"/>
            <a:ext cx="3827740" cy="963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Стандартизация числовых, One-Hot кодирование категориальных признаков.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9653111" y="4410075"/>
            <a:ext cx="4274701" cy="3269099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6592" y="4633555"/>
            <a:ext cx="250876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Разделение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876592" y="5067419"/>
            <a:ext cx="3827740" cy="963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Данные разделены на обучающую и тестовую выборки для корректной оценки моделей.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476" y="618292"/>
            <a:ext cx="7923848" cy="871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2.2. Детальная Обработка и Трансформация Данных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096476" y="1751290"/>
            <a:ext cx="392192" cy="39219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161842" y="1783973"/>
            <a:ext cx="261461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662976" y="1811179"/>
            <a:ext cx="2179082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Удаление выбросов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62976" y="2188012"/>
            <a:ext cx="7357348" cy="557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Применялся метод 5-го и 95-го перцентилей для идентификации и устранения аномальных значений, обеспечивая более надежный набор данных для обучения.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96476" y="3094315"/>
            <a:ext cx="392192" cy="39219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6161842" y="3126998"/>
            <a:ext cx="261461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6662976" y="3154204"/>
            <a:ext cx="2455069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Заполнение пропусков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662976" y="3531037"/>
            <a:ext cx="7357348" cy="83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Отсутствующие числовые значения (например, возраст) заполнялись медианой, а пропущенные категориальные значения (например, порт посадки) — модой соответствующего признака.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096476" y="4716185"/>
            <a:ext cx="392192" cy="39219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6161842" y="4748867"/>
            <a:ext cx="261461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6662976" y="4776073"/>
            <a:ext cx="4406503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Кодирование категориальных признаков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662976" y="5152906"/>
            <a:ext cx="7357348" cy="83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Категориальные переменные, такие как пол и порт посадки, были преобразованы с помощью One-Hot кодирования, чтобы алгоритмы машинного обучения могли их обрабатывать.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96476" y="6338054"/>
            <a:ext cx="392192" cy="39219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6161842" y="6370737"/>
            <a:ext cx="261461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6662976" y="6397943"/>
            <a:ext cx="3999548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Стандартизация числовых признаков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662976" y="6774775"/>
            <a:ext cx="7357348" cy="83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Все числовые признаки были стандартизированы с использованием StandardScaler, чтобы привести их к единому масштабу, что критически важно для многих ML-алгоритмов.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91369" y="760095"/>
            <a:ext cx="7734062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2.3. Оптимизация Параметров Конвейера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191369" y="2069425"/>
            <a:ext cx="7734062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Оптимизация ML через выбор модели и подбор её гиперпараметров.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191369" y="2618303"/>
            <a:ext cx="805696" cy="1482804"/>
          </a:xfrm>
          <a:prstGeom prst="roundRect">
            <a:avLst>
              <a:gd name="adj" fmla="val 360012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443186" y="3170873"/>
            <a:ext cx="302062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7198400" y="2819638"/>
            <a:ext cx="279451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Определение моделей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198400" y="3255169"/>
            <a:ext cx="6727031" cy="64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 моделей регрессии: LinearRegression, Ridge, RandomForestRegressor, GradientBoostingRegressor, XGBRegressor, LGBMRegressor, SVR.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191369" y="4302443"/>
            <a:ext cx="805696" cy="1482804"/>
          </a:xfrm>
          <a:prstGeom prst="roundRect">
            <a:avLst>
              <a:gd name="adj" fmla="val 360012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6443186" y="4855012"/>
            <a:ext cx="302062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350" dirty="0"/>
          </a:p>
        </p:txBody>
      </p:sp>
      <p:sp>
        <p:nvSpPr>
          <p:cNvPr id="11" name="Text 8"/>
          <p:cNvSpPr/>
          <p:nvPr/>
        </p:nvSpPr>
        <p:spPr>
          <a:xfrm>
            <a:off x="7198400" y="4503777"/>
            <a:ext cx="2735937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Создание пайплайнов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198400" y="4939308"/>
            <a:ext cx="6727031" cy="64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Для каждой модели создан конвейер с предобработкой (ColumnTransformer) и регрессором.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191369" y="5986582"/>
            <a:ext cx="805696" cy="1482804"/>
          </a:xfrm>
          <a:prstGeom prst="roundRect">
            <a:avLst>
              <a:gd name="adj" fmla="val 360012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6443186" y="6539151"/>
            <a:ext cx="302062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350" dirty="0"/>
          </a:p>
        </p:txBody>
      </p:sp>
      <p:sp>
        <p:nvSpPr>
          <p:cNvPr id="15" name="Text 12"/>
          <p:cNvSpPr/>
          <p:nvPr/>
        </p:nvSpPr>
        <p:spPr>
          <a:xfrm>
            <a:off x="7198400" y="6187916"/>
            <a:ext cx="3551873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Настройка гиперпараметров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7198400" y="6623447"/>
            <a:ext cx="6727031" cy="64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Использование GridSearchCV с 5-кратной кросс-валидацией для поиска оптимальных настроек (целевая метрика — RMSE).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6835" y="311825"/>
            <a:ext cx="573631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2.4. Результаты Оптимизации и Сравнение Моделей</a:t>
            </a: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396835" y="765334"/>
            <a:ext cx="83503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После проведения оптимизации параметров конвейера для каждой из семи моделей были получены следующие результаты: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396835" y="1074301"/>
            <a:ext cx="8350329" cy="937498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2075" y="1089541"/>
            <a:ext cx="453628" cy="90701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979051" y="1202888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Linear Regression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79051" y="1452324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RMSE: 0.401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79051" y="1701760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R²: 0.395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6835" y="2125147"/>
            <a:ext cx="8350329" cy="937498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2075" y="2140387"/>
            <a:ext cx="453628" cy="90701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979051" y="2253734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Ridge Regression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79051" y="2503170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RMSE: 0.398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79051" y="2752606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R²: 0.410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96835" y="3175992"/>
            <a:ext cx="8350329" cy="937498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2075" y="3191232"/>
            <a:ext cx="453628" cy="90701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979051" y="3304580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RandomForest Regressor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979051" y="3554016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RMSE: 0.285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979051" y="3803452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R²: 0.701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96835" y="4226838"/>
            <a:ext cx="8350329" cy="937498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2075" y="4242078"/>
            <a:ext cx="453628" cy="90701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2" name="Text 19"/>
          <p:cNvSpPr/>
          <p:nvPr/>
        </p:nvSpPr>
        <p:spPr>
          <a:xfrm>
            <a:off x="979051" y="4355425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GradientBoosting Regressor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979051" y="4604861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RMSE: 0.267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979051" y="4854297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R²: 0.745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96835" y="5277683"/>
            <a:ext cx="8350329" cy="937498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2075" y="5292923"/>
            <a:ext cx="453628" cy="90701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7" name="Text 24"/>
          <p:cNvSpPr/>
          <p:nvPr/>
        </p:nvSpPr>
        <p:spPr>
          <a:xfrm>
            <a:off x="979051" y="5406271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XGBoost Regressor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979051" y="5655707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RMSE: 0.251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979051" y="5905143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R²: 0.776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96835" y="6328529"/>
            <a:ext cx="8350329" cy="937498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2075" y="6343769"/>
            <a:ext cx="453628" cy="90701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32" name="Text 29"/>
          <p:cNvSpPr/>
          <p:nvPr/>
        </p:nvSpPr>
        <p:spPr>
          <a:xfrm>
            <a:off x="979051" y="6457117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LightGBM Regressor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979051" y="6706553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RMSE: 0.222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979051" y="6955988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00A86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R²: 0.8034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96835" y="7379375"/>
            <a:ext cx="8350329" cy="937498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2075" y="7394615"/>
            <a:ext cx="453628" cy="90701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37" name="Text 34"/>
          <p:cNvSpPr/>
          <p:nvPr/>
        </p:nvSpPr>
        <p:spPr>
          <a:xfrm>
            <a:off x="979051" y="7507962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SVR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979051" y="7757398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RMSE: 0.354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979051" y="8006834"/>
            <a:ext cx="763952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R²: 0.542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396835" y="8444389"/>
            <a:ext cx="8350329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Лучшие результаты по метрике R² показала модель </a:t>
            </a:r>
            <a:r>
              <a:rPr lang="en-US" sz="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LightGBM Regressor</a:t>
            </a: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достигнув значения </a:t>
            </a:r>
            <a:r>
              <a:rPr lang="en-US" sz="850" dirty="0">
                <a:solidFill>
                  <a:srgbClr val="00A86B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0.8034</a:t>
            </a: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что свидетельствует о её высокой объясняющей способности.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9086" y="525661"/>
            <a:ext cx="5820728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2.5. Влияние Оптимизации на Качество Моделей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09086" y="1020127"/>
            <a:ext cx="13765054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Оптимизация гиперпараметров значительно улучшает производительность моделей, но также требует внимательного подхода к вычислительным затратам.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183993" y="1356836"/>
            <a:ext cx="15240" cy="4578191"/>
          </a:xfrm>
          <a:prstGeom prst="roundRect">
            <a:avLst>
              <a:gd name="adj" fmla="val 121684"/>
            </a:avLst>
          </a:prstGeom>
          <a:solidFill>
            <a:srgbClr val="D8D4D4"/>
          </a:solidFill>
          <a:ln/>
        </p:spPr>
      </p:sp>
      <p:sp>
        <p:nvSpPr>
          <p:cNvPr id="6" name="Shape 3"/>
          <p:cNvSpPr/>
          <p:nvPr/>
        </p:nvSpPr>
        <p:spPr>
          <a:xfrm>
            <a:off x="293846" y="1356836"/>
            <a:ext cx="6882527" cy="1107400"/>
          </a:xfrm>
          <a:prstGeom prst="roundRect">
            <a:avLst>
              <a:gd name="adj" fmla="val 1675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5507474" y="1480423"/>
            <a:ext cx="1545312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Снижение RMSE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17433" y="1747718"/>
            <a:ext cx="6635353" cy="59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После тщательной настройки гиперпараметров мы наблюдали снижение среднего квадратичного отклонения (RMSE) для лучших моделей до </a:t>
            </a: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35%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что указывает на существенное уменьшение ошибки предсказаний.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06853" y="2711410"/>
            <a:ext cx="6882527" cy="90975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7330440" y="2834997"/>
            <a:ext cx="1545312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Рост R²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330440" y="3102292"/>
            <a:ext cx="6635353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Коэффициент детерминации (R²) увеличился в среднем на </a:t>
            </a: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30%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достигнув для LightGBM Regressor значения </a:t>
            </a: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0.8034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что подтверждает более точное соответствие модели данным.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93846" y="3868341"/>
            <a:ext cx="6882527" cy="9097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5105876" y="3991927"/>
            <a:ext cx="1946910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Вычислительные затраты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17433" y="4259223"/>
            <a:ext cx="6635353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Проведение GridSearchCV по всему конвейеру требовало значительных ресурсов, увеличивая время обучения каждой модели до </a:t>
            </a: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нескольких часов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на кластере, в зависимости от сложности сетки параметров.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06853" y="5025271"/>
            <a:ext cx="6882527" cy="90975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7330440" y="5148858"/>
            <a:ext cx="1807845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Практическое значение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330440" y="5416153"/>
            <a:ext cx="6635353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Улучшенные метрики напрямую транслируются в более надёжные и точные предсказания, что критически важно для принятия решений и масштабирования ML-решений в реальных условиях.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24031" y="589042"/>
            <a:ext cx="8085058" cy="756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2.6. Ключевые Выводы из Практического Исследования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2724031" y="1572141"/>
            <a:ext cx="8085058" cy="1537335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545" y="1496655"/>
            <a:ext cx="181451" cy="181451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3123" y="3003510"/>
            <a:ext cx="181451" cy="18145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966085" y="1814195"/>
            <a:ext cx="4411980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Важность качественной предобработки данных</a:t>
            </a:r>
            <a:endParaRPr lang="en-US" sz="1450" dirty="0"/>
          </a:p>
        </p:txBody>
      </p:sp>
      <p:sp>
        <p:nvSpPr>
          <p:cNvPr id="8" name="Text 3"/>
          <p:cNvSpPr/>
          <p:nvPr/>
        </p:nvSpPr>
        <p:spPr>
          <a:xfrm>
            <a:off x="2966085" y="2141260"/>
            <a:ext cx="7600950" cy="726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Качественная предобработка данных — основа успешной модели. Без неё даже самые продвинутые алгоритмы дают слабые и ненадёжные результаты, а утечка данных может привести к ложным выводам.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2724031" y="3260685"/>
            <a:ext cx="8085058" cy="1295281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545" y="3185200"/>
            <a:ext cx="181451" cy="181451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3123" y="4450001"/>
            <a:ext cx="181451" cy="18145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966085" y="3502739"/>
            <a:ext cx="3522702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Эффективность ансамблевых методов</a:t>
            </a:r>
            <a:endParaRPr lang="en-US" sz="1450" dirty="0"/>
          </a:p>
        </p:txBody>
      </p:sp>
      <p:sp>
        <p:nvSpPr>
          <p:cNvPr id="13" name="Text 6"/>
          <p:cNvSpPr/>
          <p:nvPr/>
        </p:nvSpPr>
        <p:spPr>
          <a:xfrm>
            <a:off x="2966085" y="3829804"/>
            <a:ext cx="7600950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Ансамблевые методы, такие как LightGBM, показали выдающуюся эффективность в решении задачи регрессии. Они значительно превосходят простые регрессоры по метрикам RMSE и R².</a:t>
            </a:r>
            <a:endParaRPr lang="en-US" sz="1150" dirty="0"/>
          </a:p>
        </p:txBody>
      </p:sp>
      <p:sp>
        <p:nvSpPr>
          <p:cNvPr id="14" name="Shape 7"/>
          <p:cNvSpPr/>
          <p:nvPr/>
        </p:nvSpPr>
        <p:spPr>
          <a:xfrm>
            <a:off x="2724031" y="4707176"/>
            <a:ext cx="8085058" cy="1295281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545" y="4631690"/>
            <a:ext cx="181451" cy="181451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3123" y="5896491"/>
            <a:ext cx="181451" cy="181451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2966085" y="4949230"/>
            <a:ext cx="5671066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Необходимость систематического подбора гиперпараметров</a:t>
            </a:r>
            <a:endParaRPr lang="en-US" sz="1450" dirty="0"/>
          </a:p>
        </p:txBody>
      </p:sp>
      <p:sp>
        <p:nvSpPr>
          <p:cNvPr id="18" name="Text 9"/>
          <p:cNvSpPr/>
          <p:nvPr/>
        </p:nvSpPr>
        <p:spPr>
          <a:xfrm>
            <a:off x="2966085" y="5276294"/>
            <a:ext cx="7600950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Систематический подбор гиперпараметров через GridSearchCV критически важен. Он позволил добиться максимальной производительности, раскрывая потенциал настроенных ML-конвейеров.</a:t>
            </a:r>
            <a:endParaRPr lang="en-US" sz="1150" dirty="0"/>
          </a:p>
        </p:txBody>
      </p:sp>
      <p:sp>
        <p:nvSpPr>
          <p:cNvPr id="19" name="Shape 10"/>
          <p:cNvSpPr/>
          <p:nvPr/>
        </p:nvSpPr>
        <p:spPr>
          <a:xfrm>
            <a:off x="2724031" y="6153666"/>
            <a:ext cx="8085058" cy="1537335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545" y="6078180"/>
            <a:ext cx="181451" cy="181451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3123" y="7585035"/>
            <a:ext cx="181451" cy="181451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2966085" y="6395720"/>
            <a:ext cx="3451265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Баланс между точностью и затратами</a:t>
            </a:r>
            <a:endParaRPr lang="en-US" sz="1450" dirty="0"/>
          </a:p>
        </p:txBody>
      </p:sp>
      <p:sp>
        <p:nvSpPr>
          <p:cNvPr id="23" name="Text 12"/>
          <p:cNvSpPr/>
          <p:nvPr/>
        </p:nvSpPr>
        <p:spPr>
          <a:xfrm>
            <a:off x="2966085" y="6722785"/>
            <a:ext cx="7600950" cy="726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Необходимо находить оптимальный баланс между достигаемой точностью модели и вычислительными затратами на её оптимизацию. Глубокая настройка требует значительных ресурсов, но окупается в критически важных задачах.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107" y="675442"/>
            <a:ext cx="6627614" cy="476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3.1. Общие Выводы и Рекомендации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7560" y="1282424"/>
            <a:ext cx="13296186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Исследование подтвердило критическую важность </a:t>
            </a:r>
            <a:r>
              <a:rPr lang="en-US" sz="2800" dirty="0" err="1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системного</a:t>
            </a:r>
            <a:r>
              <a:rPr lang="en-US" sz="2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2800" dirty="0" err="1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подхода</a:t>
            </a:r>
            <a:endParaRPr lang="ru-RU" sz="2800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 построению и настройке ML-конвейеров.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722834" y="2357081"/>
            <a:ext cx="3442454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Качественная предобработка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722834" y="2769157"/>
            <a:ext cx="4981694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Обработка пропусков, кодирование, стандартизация.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627584" y="3255051"/>
            <a:ext cx="8950762" cy="11430"/>
          </a:xfrm>
          <a:prstGeom prst="roundRect">
            <a:avLst>
              <a:gd name="adj" fmla="val 250136"/>
            </a:avLst>
          </a:prstGeom>
          <a:solidFill>
            <a:srgbClr val="D8D4D4"/>
          </a:solidFill>
          <a:ln/>
        </p:spPr>
      </p:sp>
      <p:sp>
        <p:nvSpPr>
          <p:cNvPr id="11" name="Text 7"/>
          <p:cNvSpPr/>
          <p:nvPr/>
        </p:nvSpPr>
        <p:spPr>
          <a:xfrm>
            <a:off x="2553891" y="3550326"/>
            <a:ext cx="3088719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Автоматизация конвейера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2553891" y="3962401"/>
            <a:ext cx="4734758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Повышает воспроизводимость и снижает ошибки.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2458641" y="4448295"/>
            <a:ext cx="8119705" cy="11430"/>
          </a:xfrm>
          <a:prstGeom prst="roundRect">
            <a:avLst>
              <a:gd name="adj" fmla="val 250136"/>
            </a:avLst>
          </a:prstGeom>
          <a:solidFill>
            <a:srgbClr val="D8D4D4"/>
          </a:solidFill>
          <a:ln/>
        </p:spPr>
      </p:sp>
      <p:sp>
        <p:nvSpPr>
          <p:cNvPr id="16" name="Text 11"/>
          <p:cNvSpPr/>
          <p:nvPr/>
        </p:nvSpPr>
        <p:spPr>
          <a:xfrm>
            <a:off x="3384828" y="4743570"/>
            <a:ext cx="3732728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Оптимизация гиперпараметров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3384828" y="5155645"/>
            <a:ext cx="4206240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Раскрывает потенциал сложных алгоритмов.</a:t>
            </a:r>
            <a:endParaRPr lang="en-US" sz="2800" dirty="0"/>
          </a:p>
        </p:txBody>
      </p:sp>
      <p:sp>
        <p:nvSpPr>
          <p:cNvPr id="18" name="Shape 13"/>
          <p:cNvSpPr/>
          <p:nvPr/>
        </p:nvSpPr>
        <p:spPr>
          <a:xfrm>
            <a:off x="3289578" y="5641539"/>
            <a:ext cx="7288768" cy="11430"/>
          </a:xfrm>
          <a:prstGeom prst="roundRect">
            <a:avLst>
              <a:gd name="adj" fmla="val 250136"/>
            </a:avLst>
          </a:prstGeom>
          <a:solidFill>
            <a:srgbClr val="D8D4D4"/>
          </a:solidFill>
          <a:ln/>
        </p:spPr>
      </p:sp>
      <p:sp>
        <p:nvSpPr>
          <p:cNvPr id="21" name="Text 15"/>
          <p:cNvSpPr/>
          <p:nvPr/>
        </p:nvSpPr>
        <p:spPr>
          <a:xfrm>
            <a:off x="4216003" y="5936814"/>
            <a:ext cx="3064073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Преимущество ансамблей</a:t>
            </a:r>
            <a:endParaRPr lang="en-US" sz="2800" dirty="0"/>
          </a:p>
        </p:txBody>
      </p:sp>
      <p:sp>
        <p:nvSpPr>
          <p:cNvPr id="22" name="Text 16"/>
          <p:cNvSpPr/>
          <p:nvPr/>
        </p:nvSpPr>
        <p:spPr>
          <a:xfrm>
            <a:off x="4216003" y="6348890"/>
            <a:ext cx="6267093" cy="60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Градиентный бустинг (LightGBM) показал лучший результат (R² = 0.8034).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667107" y="7349730"/>
            <a:ext cx="13296186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Рекомендации: модульная архитектура, </a:t>
            </a:r>
            <a:r>
              <a:rPr lang="en-US" sz="2800" dirty="0" err="1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систематический</a:t>
            </a:r>
            <a:r>
              <a:rPr lang="en-US" sz="2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2800" dirty="0" err="1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подбор</a:t>
            </a:r>
            <a:endParaRPr lang="ru-RU" sz="2800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гиперпараметров, мониторинг качества и автоматизация полного цикла.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5C6A72"/>
      </a:dk1>
      <a:lt1>
        <a:sysClr val="window" lastClr="FDF6E3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5C6A72"/>
      </a:dk1>
      <a:lt1>
        <a:sysClr val="window" lastClr="FDF6E3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1142</Words>
  <Application>Microsoft Office PowerPoint</Application>
  <PresentationFormat>Произвольный</PresentationFormat>
  <Paragraphs>168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Heebo</vt:lpstr>
      <vt:lpstr>Calibri</vt:lpstr>
      <vt:lpstr>Crimson Pro Semi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Егор Бухаров</cp:lastModifiedBy>
  <cp:revision>2</cp:revision>
  <dcterms:created xsi:type="dcterms:W3CDTF">2025-12-17T18:09:33Z</dcterms:created>
  <dcterms:modified xsi:type="dcterms:W3CDTF">2025-12-25T22:26:50Z</dcterms:modified>
</cp:coreProperties>
</file>